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10058400" cx="15544800"/>
  <p:notesSz cx="6858000" cy="9144000"/>
  <p:embeddedFontLst>
    <p:embeddedFont>
      <p:font typeface="Century Schoolbook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than D'Souz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11" Type="http://schemas.openxmlformats.org/officeDocument/2006/relationships/font" Target="fonts/CenturySchoolbook-boldItalic.fntdata"/><Relationship Id="rId10" Type="http://schemas.openxmlformats.org/officeDocument/2006/relationships/font" Target="fonts/CenturySchoolbook-italic.fntdata"/><Relationship Id="rId9" Type="http://schemas.openxmlformats.org/officeDocument/2006/relationships/font" Target="fonts/CenturySchoolboo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enturySchoolbook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4T14:50:28.477">
    <p:pos x="6000" y="0"/>
    <p:text>fix wording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79628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0630e209_0_0:notes"/>
          <p:cNvSpPr/>
          <p:nvPr>
            <p:ph idx="2" type="sldImg"/>
          </p:nvPr>
        </p:nvSpPr>
        <p:spPr>
          <a:xfrm>
            <a:off x="779628" y="685800"/>
            <a:ext cx="529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0630e2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29904" y="1456058"/>
            <a:ext cx="14485200" cy="4014000"/>
          </a:xfrm>
          <a:prstGeom prst="rect">
            <a:avLst/>
          </a:prstGeom>
        </p:spPr>
        <p:txBody>
          <a:bodyPr anchorCtr="0" anchor="b" bIns="164800" lIns="164800" spcFirstLastPara="1" rIns="164800" wrap="square" tIns="164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2pPr>
            <a:lvl3pPr lvl="2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3pPr>
            <a:lvl4pPr lvl="3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4pPr>
            <a:lvl5pPr lvl="4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5pPr>
            <a:lvl6pPr lvl="5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6pPr>
            <a:lvl7pPr lvl="6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7pPr>
            <a:lvl8pPr lvl="7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8pPr>
            <a:lvl9pPr lvl="8" algn="ctr">
              <a:spcBef>
                <a:spcPts val="0"/>
              </a:spcBef>
              <a:spcAft>
                <a:spcPts val="0"/>
              </a:spcAft>
              <a:buSzPts val="9400"/>
              <a:buNone/>
              <a:defRPr sz="9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29890" y="5542289"/>
            <a:ext cx="14485200" cy="15501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29890" y="4206107"/>
            <a:ext cx="14485200" cy="16461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29890" y="870271"/>
            <a:ext cx="14485200" cy="11199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29890" y="2253729"/>
            <a:ext cx="14485200" cy="66810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29890" y="870271"/>
            <a:ext cx="14485200" cy="11199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29890" y="2253729"/>
            <a:ext cx="6799800" cy="66810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215080" y="2253729"/>
            <a:ext cx="6799800" cy="66810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29890" y="870271"/>
            <a:ext cx="14485200" cy="11199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29890" y="1086507"/>
            <a:ext cx="4773600" cy="1477800"/>
          </a:xfrm>
          <a:prstGeom prst="rect">
            <a:avLst/>
          </a:prstGeom>
        </p:spPr>
        <p:txBody>
          <a:bodyPr anchorCtr="0" anchor="b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29890" y="2717440"/>
            <a:ext cx="4773600" cy="62175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3425" y="880293"/>
            <a:ext cx="10825200" cy="799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1pPr>
            <a:lvl2pPr lvl="1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2pPr>
            <a:lvl3pPr lvl="2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3pPr>
            <a:lvl4pPr lvl="3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4pPr>
            <a:lvl5pPr lvl="4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5pPr>
            <a:lvl6pPr lvl="5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6pPr>
            <a:lvl7pPr lvl="6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7pPr>
            <a:lvl8pPr lvl="7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8pPr>
            <a:lvl9pPr lvl="8">
              <a:spcBef>
                <a:spcPts val="0"/>
              </a:spcBef>
              <a:spcAft>
                <a:spcPts val="0"/>
              </a:spcAft>
              <a:buSzPts val="8700"/>
              <a:buNone/>
              <a:defRPr sz="8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772400" y="-244"/>
            <a:ext cx="77724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800" lIns="164800" spcFirstLastPara="1" rIns="164800" wrap="square" tIns="16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51350" y="2411542"/>
            <a:ext cx="6876900" cy="2898600"/>
          </a:xfrm>
          <a:prstGeom prst="rect">
            <a:avLst/>
          </a:prstGeom>
        </p:spPr>
        <p:txBody>
          <a:bodyPr anchorCtr="0" anchor="b" bIns="164800" lIns="164800" spcFirstLastPara="1" rIns="164800" wrap="square" tIns="164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51350" y="5481569"/>
            <a:ext cx="6876900" cy="24153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150" y="1415969"/>
            <a:ext cx="6522900" cy="72261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29890" y="8273124"/>
            <a:ext cx="10197900" cy="11832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29890" y="2163089"/>
            <a:ext cx="14485200" cy="3839700"/>
          </a:xfrm>
          <a:prstGeom prst="rect">
            <a:avLst/>
          </a:prstGeom>
        </p:spPr>
        <p:txBody>
          <a:bodyPr anchorCtr="0" anchor="b" bIns="164800" lIns="164800" spcFirstLastPara="1" rIns="164800" wrap="square" tIns="164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600"/>
              <a:buNone/>
              <a:defRPr sz="21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29890" y="6164351"/>
            <a:ext cx="14485200" cy="2543700"/>
          </a:xfrm>
          <a:prstGeom prst="rect">
            <a:avLst/>
          </a:prstGeom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29890" y="870271"/>
            <a:ext cx="144852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800" lIns="164800" spcFirstLastPara="1" rIns="164800" wrap="square" tIns="164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9890" y="2253729"/>
            <a:ext cx="144852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800" lIns="164800" spcFirstLastPara="1" rIns="164800" wrap="square" tIns="164800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403178" y="9119180"/>
            <a:ext cx="9327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800" lIns="164800" spcFirstLastPara="1" rIns="164800" wrap="square" tIns="16480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10" Type="http://schemas.openxmlformats.org/officeDocument/2006/relationships/image" Target="../media/image3.jpg"/><Relationship Id="rId9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6.jp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8050" y="455750"/>
            <a:ext cx="5250000" cy="16098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Oppor</a:t>
            </a: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tunity: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Creating a customizable device that takes physical input and turns it into audio output to improve the communication of non-verbal children.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749103" y="2950509"/>
            <a:ext cx="3500400" cy="12315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Next Steps: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Create easier storage system.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Merge storage with the main device.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749112" y="302188"/>
            <a:ext cx="3500400" cy="9852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Broader Impacts: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potential as screen-free learning tool ⇨ larger market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37075" y="2227625"/>
            <a:ext cx="3500400" cy="14067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Design Specifications</a:t>
            </a:r>
            <a:r>
              <a:rPr lang="en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Sound level, dB,</a:t>
            </a: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⇧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Battery Life, hrs, ⇧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Portability, g, ⇩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1749100" y="1380189"/>
            <a:ext cx="3500400" cy="1477500"/>
          </a:xfrm>
          <a:prstGeom prst="rect">
            <a:avLst/>
          </a:prstGeom>
          <a:solidFill>
            <a:srgbClr val="B6D7A8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Research:</a:t>
            </a:r>
            <a:endParaRPr sz="2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Minimal mid tech </a:t>
            </a: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non-verbal communication options exist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Schoolbook"/>
              <a:buChar char="●"/>
            </a:pPr>
            <a:r>
              <a:rPr lang="en" sz="1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60-65 dB is needed for high quality sound output</a:t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1795393" y="5762343"/>
            <a:ext cx="27930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Assembled PCB: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670492" y="8133658"/>
            <a:ext cx="3888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Speaker Grill: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Tested 6 diameters, + control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2.5 mm had loudest output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Smaller holes muffled output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Larger holes prone to debris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3224458" y="9374729"/>
            <a:ext cx="2074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95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Raspberry Pi </a:t>
            </a:r>
            <a:endParaRPr sz="2095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597134" y="3826175"/>
            <a:ext cx="330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Program Flow Chart</a:t>
            </a: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4">
            <a:alphaModFix/>
          </a:blip>
          <a:srcRect b="8119" l="18334" r="15976" t="18541"/>
          <a:stretch/>
        </p:blipFill>
        <p:spPr>
          <a:xfrm>
            <a:off x="318050" y="4174700"/>
            <a:ext cx="6116840" cy="3556300"/>
          </a:xfrm>
          <a:prstGeom prst="rect">
            <a:avLst/>
          </a:prstGeom>
          <a:noFill/>
          <a:ln cap="flat" cmpd="sng" w="19050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3"/>
          <p:cNvSpPr txBox="1"/>
          <p:nvPr/>
        </p:nvSpPr>
        <p:spPr>
          <a:xfrm>
            <a:off x="1073519" y="3703972"/>
            <a:ext cx="46059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Plastic Reduction: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5" name="Google Shape;65;p13" title="IMG_0118.jpeg"/>
          <p:cNvPicPr preferRelativeResize="0"/>
          <p:nvPr/>
        </p:nvPicPr>
        <p:blipFill rotWithShape="1">
          <a:blip r:embed="rId5">
            <a:alphaModFix/>
          </a:blip>
          <a:srcRect b="37056" l="19006" r="19940" t="23996"/>
          <a:stretch/>
        </p:blipFill>
        <p:spPr>
          <a:xfrm>
            <a:off x="318050" y="7994650"/>
            <a:ext cx="2303174" cy="18571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6">
            <a:alphaModFix/>
          </a:blip>
          <a:srcRect b="2983" l="1839" r="1374" t="4664"/>
          <a:stretch/>
        </p:blipFill>
        <p:spPr>
          <a:xfrm>
            <a:off x="10880214" y="6747140"/>
            <a:ext cx="4083688" cy="2579627"/>
          </a:xfrm>
          <a:prstGeom prst="rect">
            <a:avLst/>
          </a:prstGeom>
          <a:noFill/>
          <a:ln cap="flat" cmpd="sng" w="99775">
            <a:solidFill>
              <a:srgbClr val="61616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67" name="Google Shape;67;p13"/>
          <p:cNvCxnSpPr>
            <a:stCxn id="61" idx="0"/>
          </p:cNvCxnSpPr>
          <p:nvPr/>
        </p:nvCxnSpPr>
        <p:spPr>
          <a:xfrm rot="10800000">
            <a:off x="13795058" y="8954729"/>
            <a:ext cx="466800" cy="420000"/>
          </a:xfrm>
          <a:prstGeom prst="straightConnector1">
            <a:avLst/>
          </a:prstGeom>
          <a:noFill/>
          <a:ln cap="flat" cmpd="sng" w="37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8" name="Google Shape;68;p13"/>
          <p:cNvPicPr preferRelativeResize="0"/>
          <p:nvPr/>
        </p:nvPicPr>
        <p:blipFill rotWithShape="1">
          <a:blip r:embed="rId7">
            <a:alphaModFix/>
          </a:blip>
          <a:srcRect b="27164" l="5609" r="7435" t="37163"/>
          <a:stretch/>
        </p:blipFill>
        <p:spPr>
          <a:xfrm>
            <a:off x="6874211" y="6334425"/>
            <a:ext cx="3304201" cy="180726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6845300" y="8329213"/>
            <a:ext cx="3732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NFC Cards</a:t>
            </a:r>
            <a:r>
              <a:rPr lang="en" sz="2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sz="2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Programmable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Easy Organization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 Cards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0" name="Google Shape;70;p13"/>
          <p:cNvCxnSpPr/>
          <p:nvPr/>
        </p:nvCxnSpPr>
        <p:spPr>
          <a:xfrm>
            <a:off x="6542384" y="8141700"/>
            <a:ext cx="0" cy="187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" name="Google Shape;71;p13"/>
          <p:cNvGrpSpPr/>
          <p:nvPr/>
        </p:nvGrpSpPr>
        <p:grpSpPr>
          <a:xfrm>
            <a:off x="6910487" y="302200"/>
            <a:ext cx="4164900" cy="886200"/>
            <a:chOff x="6910487" y="302200"/>
            <a:chExt cx="4164900" cy="886200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6910487" y="302200"/>
              <a:ext cx="4164900" cy="88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8800" lIns="108800" spcFirstLastPara="1" rIns="108800" wrap="square" tIns="10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8">
                  <a:solidFill>
                    <a:srgbClr val="171717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Word Wizard</a:t>
              </a:r>
              <a:endParaRPr sz="3808">
                <a:solidFill>
                  <a:srgbClr val="171717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pic>
          <p:nvPicPr>
            <p:cNvPr id="73" name="Google Shape;73;p13" title="77-770764_png-file-svg-magic-wand-icon-photoshop-transparent-removebg-preview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150250" y="407237"/>
              <a:ext cx="688200" cy="676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/>
          <p:nvPr/>
        </p:nvSpPr>
        <p:spPr>
          <a:xfrm rot="1105">
            <a:off x="259108" y="2609000"/>
            <a:ext cx="933000" cy="791400"/>
          </a:xfrm>
          <a:prstGeom prst="rect">
            <a:avLst/>
          </a:prstGeom>
          <a:solidFill>
            <a:srgbClr val="E46C0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900" lIns="30900" spcFirstLastPara="1" rIns="30900" wrap="square" tIns="30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entury Schoolbook"/>
                <a:ea typeface="Century Schoolbook"/>
                <a:cs typeface="Century Schoolbook"/>
                <a:sym typeface="Century Schoolbook"/>
              </a:rPr>
              <a:t> 10 am </a:t>
            </a:r>
            <a:endParaRPr b="1" sz="16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entury Schoolbook"/>
                <a:ea typeface="Century Schoolbook"/>
                <a:cs typeface="Century Schoolbook"/>
                <a:sym typeface="Century Schoolbook"/>
              </a:rPr>
              <a:t>Team 5</a:t>
            </a:r>
            <a:endParaRPr b="1"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1019948" y="9336245"/>
            <a:ext cx="2793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95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Speaker Driver</a:t>
            </a:r>
            <a:endParaRPr sz="2095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6" name="Google Shape;76;p13"/>
          <p:cNvCxnSpPr>
            <a:stCxn id="75" idx="0"/>
          </p:cNvCxnSpPr>
          <p:nvPr/>
        </p:nvCxnSpPr>
        <p:spPr>
          <a:xfrm rot="10800000">
            <a:off x="11261448" y="8794445"/>
            <a:ext cx="1155000" cy="541800"/>
          </a:xfrm>
          <a:prstGeom prst="straightConnector1">
            <a:avLst/>
          </a:prstGeom>
          <a:noFill/>
          <a:ln cap="flat" cmpd="sng" w="37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 txBox="1"/>
          <p:nvPr/>
        </p:nvSpPr>
        <p:spPr>
          <a:xfrm>
            <a:off x="12990766" y="6094076"/>
            <a:ext cx="287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95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Voltage Regulator</a:t>
            </a:r>
            <a:endParaRPr sz="2095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 flipH="1">
            <a:off x="11960050" y="6545225"/>
            <a:ext cx="2097900" cy="1188000"/>
          </a:xfrm>
          <a:prstGeom prst="straightConnector1">
            <a:avLst/>
          </a:prstGeom>
          <a:noFill/>
          <a:ln cap="flat" cmpd="sng" w="37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 txBox="1"/>
          <p:nvPr/>
        </p:nvSpPr>
        <p:spPr>
          <a:xfrm>
            <a:off x="10617722" y="6094083"/>
            <a:ext cx="2584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95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USB-C Charging</a:t>
            </a:r>
            <a:endParaRPr sz="2095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80" name="Google Shape;80;p13"/>
          <p:cNvCxnSpPr>
            <a:stCxn id="79" idx="2"/>
          </p:cNvCxnSpPr>
          <p:nvPr/>
        </p:nvCxnSpPr>
        <p:spPr>
          <a:xfrm flipH="1">
            <a:off x="11620622" y="6537483"/>
            <a:ext cx="289200" cy="362700"/>
          </a:xfrm>
          <a:prstGeom prst="straightConnector1">
            <a:avLst/>
          </a:prstGeom>
          <a:noFill/>
          <a:ln cap="flat" cmpd="sng" w="37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1" name="Google Shape;81;p13"/>
          <p:cNvPicPr preferRelativeResize="0"/>
          <p:nvPr/>
        </p:nvPicPr>
        <p:blipFill rotWithShape="1">
          <a:blip r:embed="rId9">
            <a:alphaModFix/>
          </a:blip>
          <a:srcRect b="6968" l="5874" r="3620" t="0"/>
          <a:stretch/>
        </p:blipFill>
        <p:spPr>
          <a:xfrm>
            <a:off x="5797038" y="53275"/>
            <a:ext cx="5723075" cy="386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10">
            <a:alphaModFix/>
          </a:blip>
          <a:srcRect b="60885" l="1747" r="10925" t="19837"/>
          <a:stretch/>
        </p:blipFill>
        <p:spPr>
          <a:xfrm>
            <a:off x="6644300" y="4303400"/>
            <a:ext cx="8499226" cy="1407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